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35"/>
  </p:normalViewPr>
  <p:slideViewPr>
    <p:cSldViewPr snapToGrid="0" snapToObjects="1">
      <p:cViewPr varScale="1">
        <p:scale>
          <a:sx n="120" d="100"/>
          <a:sy n="120" d="100"/>
        </p:scale>
        <p:origin x="800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8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intech-credit-risk-ed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02920" y="5230368"/>
            <a:ext cx="8138160" cy="1024128"/>
          </a:xfrm>
          <a:prstGeom prst="roundRect">
            <a:avLst/>
          </a:prstGeom>
          <a:solidFill>
            <a:srgbClr val="082749"/>
          </a:solidFill>
          <a:ln>
            <a:solidFill>
              <a:srgbClr val="082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9808" y="5349240"/>
            <a:ext cx="758952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36E2CD"/>
                </a:solidFill>
                <a:latin typeface="Aptos"/>
              </a:rPr>
              <a:t>FULL-DATASET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5623560"/>
            <a:ext cx="7680960" cy="43891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5FAFF"/>
                </a:solidFill>
                <a:latin typeface="Aptos"/>
              </a:rPr>
              <a:t>37,408 loans audited  •  11.1% historical default rate  •  48% recall ceiling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87968" y="5504688"/>
            <a:ext cx="2697480" cy="51206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F5FAFF"/>
                </a:solidFill>
                <a:latin typeface="Aptos"/>
              </a:rPr>
              <a:t>Cover graphic contains preliminary sample figures; this deck uses the full-run results.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8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36E2CD"/>
                </a:solidFill>
                <a:latin typeface="Aptos"/>
              </a:rPr>
              <a:t>01 • PORTFOLIO REALITY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03504"/>
            <a:ext cx="1097280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F5FAFF"/>
                </a:solidFill>
                <a:latin typeface="Aptos"/>
              </a:rPr>
              <a:t>The portfolio signal is liquidity—not loan size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43000"/>
            <a:ext cx="1097280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A9C0D4"/>
                </a:solidFill>
                <a:latin typeface="Aptos"/>
              </a:rPr>
              <a:t>Full historical dataset: 37,408 applications across 11 financial and demographic attributes.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2606040" cy="1051560"/>
          </a:xfrm>
          <a:prstGeom prst="roundRect">
            <a:avLst/>
          </a:prstGeom>
          <a:solidFill>
            <a:srgbClr val="0D3254"/>
          </a:solidFill>
          <a:ln>
            <a:solidFill>
              <a:srgbClr val="0D32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1" y="1856231"/>
            <a:ext cx="2331720" cy="43891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 i="0">
                <a:solidFill>
                  <a:srgbClr val="36E2CD"/>
                </a:solidFill>
                <a:latin typeface="Aptos"/>
              </a:rPr>
              <a:t>37,408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2304288"/>
            <a:ext cx="233172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F5FAFF"/>
                </a:solidFill>
                <a:latin typeface="Aptos"/>
              </a:rPr>
              <a:t>APPLICATIONS AUDITED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2542032"/>
            <a:ext cx="2331720" cy="16459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A9C0D4"/>
                </a:solidFill>
                <a:latin typeface="Aptos"/>
              </a:rPr>
              <a:t>Complete source file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737360"/>
            <a:ext cx="2606040" cy="1051560"/>
          </a:xfrm>
          <a:prstGeom prst="roundRect">
            <a:avLst/>
          </a:prstGeom>
          <a:solidFill>
            <a:srgbClr val="0D3254"/>
          </a:solidFill>
          <a:ln>
            <a:solidFill>
              <a:srgbClr val="0D32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93592" y="1856231"/>
            <a:ext cx="2331720" cy="43891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 i="0">
                <a:solidFill>
                  <a:srgbClr val="F57070"/>
                </a:solidFill>
                <a:latin typeface="Aptos"/>
              </a:rPr>
              <a:t>11.1%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93592" y="2304288"/>
            <a:ext cx="233172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F5FAFF"/>
                </a:solidFill>
                <a:latin typeface="Aptos"/>
              </a:rPr>
              <a:t>DEFAULT 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93592" y="2542032"/>
            <a:ext cx="2331720" cy="16459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A9C0D4"/>
                </a:solidFill>
                <a:latin typeface="Aptos"/>
              </a:rPr>
              <a:t>4,154 bad loans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737360"/>
            <a:ext cx="2606040" cy="1051560"/>
          </a:xfrm>
          <a:prstGeom prst="roundRect">
            <a:avLst/>
          </a:prstGeom>
          <a:solidFill>
            <a:srgbClr val="0D3254"/>
          </a:solidFill>
          <a:ln>
            <a:solidFill>
              <a:srgbClr val="0D32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82512" y="1856231"/>
            <a:ext cx="2331720" cy="43891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 i="0">
                <a:solidFill>
                  <a:srgbClr val="FFC261"/>
                </a:solidFill>
                <a:latin typeface="Aptos"/>
              </a:rPr>
              <a:t>$802.8K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2304288"/>
            <a:ext cx="233172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F5FAFF"/>
                </a:solidFill>
                <a:latin typeface="Aptos"/>
              </a:rPr>
              <a:t>AVG. DEFAULTER CASH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2542032"/>
            <a:ext cx="2331720" cy="16459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A9C0D4"/>
                </a:solidFill>
                <a:latin typeface="Aptos"/>
              </a:rPr>
              <a:t>vs. $1.22M healthy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06840" y="1737360"/>
            <a:ext cx="2514600" cy="1051560"/>
          </a:xfrm>
          <a:prstGeom prst="roundRect">
            <a:avLst/>
          </a:prstGeom>
          <a:solidFill>
            <a:srgbClr val="0D3254"/>
          </a:solidFill>
          <a:ln>
            <a:solidFill>
              <a:srgbClr val="0D32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71432" y="1856231"/>
            <a:ext cx="2240280" cy="43891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 i="0">
                <a:solidFill>
                  <a:srgbClr val="F57070"/>
                </a:solidFill>
                <a:latin typeface="Aptos"/>
              </a:rPr>
              <a:t>−34.2%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71432" y="2304288"/>
            <a:ext cx="224028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F5FAFF"/>
                </a:solidFill>
                <a:latin typeface="Aptos"/>
              </a:rPr>
              <a:t>CASH LIQUIDITY GAP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71432" y="2542032"/>
            <a:ext cx="2240280" cy="16459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A9C0D4"/>
                </a:solidFill>
                <a:latin typeface="Aptos"/>
              </a:rPr>
              <a:t>Defaulters vs. healthy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063240"/>
            <a:ext cx="5349240" cy="2514600"/>
          </a:xfrm>
          <a:prstGeom prst="roundRect">
            <a:avLst/>
          </a:prstGeom>
          <a:solidFill>
            <a:srgbClr val="0D3254"/>
          </a:solidFill>
          <a:ln>
            <a:solidFill>
              <a:srgbClr val="0D32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8680" y="3273552"/>
            <a:ext cx="484632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F5FAFF"/>
                </a:solidFill>
                <a:latin typeface="Aptos"/>
              </a:rPr>
              <a:t>Average financial profile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" y="3794760"/>
            <a:ext cx="141732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A9C0D4"/>
                </a:solidFill>
                <a:latin typeface="Aptos"/>
              </a:rPr>
              <a:t>Cash balance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286000" y="3794760"/>
            <a:ext cx="2697480" cy="237744"/>
          </a:xfrm>
          <a:prstGeom prst="roundRect">
            <a:avLst/>
          </a:prstGeom>
          <a:solidFill>
            <a:srgbClr val="36E2CD"/>
          </a:solidFill>
          <a:ln>
            <a:solidFill>
              <a:srgbClr val="36E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10912" y="3767328"/>
            <a:ext cx="68580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36E2CD"/>
                </a:solidFill>
                <a:latin typeface="Aptos"/>
              </a:rPr>
              <a:t>$1.22M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286000" y="4224528"/>
            <a:ext cx="1773936" cy="237744"/>
          </a:xfrm>
          <a:prstGeom prst="roundRect">
            <a:avLst/>
          </a:prstGeom>
          <a:solidFill>
            <a:srgbClr val="FFC261"/>
          </a:solidFill>
          <a:ln>
            <a:solidFill>
              <a:srgbClr val="FFC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96112" y="4224528"/>
            <a:ext cx="141732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A9C0D4"/>
                </a:solidFill>
                <a:latin typeface="Aptos"/>
              </a:rPr>
              <a:t>Defaulter cash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4197096"/>
            <a:ext cx="109728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FFC261"/>
                </a:solidFill>
                <a:latin typeface="Aptos"/>
              </a:rPr>
              <a:t>$802.8K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" y="4800600"/>
            <a:ext cx="4800600" cy="5486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D8ECF6"/>
                </a:solidFill>
                <a:latin typeface="Aptos"/>
              </a:rPr>
              <a:t>Average loan sizes are similar: $6.18M for healthy borrowers vs. $6.37M for defaulters. Average due payments are also close: $376.6K vs. $369.8K.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3063240"/>
            <a:ext cx="5257800" cy="2514600"/>
          </a:xfrm>
          <a:prstGeom prst="roundRect">
            <a:avLst/>
          </a:prstGeom>
          <a:solidFill>
            <a:srgbClr val="0D3254"/>
          </a:solidFill>
          <a:ln>
            <a:solidFill>
              <a:srgbClr val="0D32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92240" y="3273552"/>
            <a:ext cx="475488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F5FAFF"/>
                </a:solidFill>
                <a:latin typeface="Aptos"/>
              </a:rPr>
              <a:t>Data quality &amp; outlier controls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3794760"/>
            <a:ext cx="457200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 i="0">
                <a:solidFill>
                  <a:srgbClr val="36E2CD"/>
                </a:solidFill>
                <a:latin typeface="Aptos"/>
              </a:rPr>
              <a:t>945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06640" y="3858768"/>
            <a:ext cx="365760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5FAFF"/>
                </a:solidFill>
                <a:latin typeface="Aptos"/>
              </a:rPr>
              <a:t>missing cells imputed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4389120"/>
            <a:ext cx="457200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 i="0">
                <a:solidFill>
                  <a:srgbClr val="FFC261"/>
                </a:solidFill>
                <a:latin typeface="Aptos"/>
              </a:rPr>
              <a:t>257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06640" y="4453128"/>
            <a:ext cx="365760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5FAFF"/>
                </a:solidFill>
                <a:latin typeface="Aptos"/>
              </a:rPr>
              <a:t>&gt;$100M outliers removed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60" y="4983480"/>
            <a:ext cx="457200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A9C0D4"/>
                </a:solidFill>
                <a:latin typeface="Aptos"/>
              </a:rPr>
              <a:t>37,151 records retained for modeling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6547104"/>
            <a:ext cx="9144000" cy="16459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1" i="0">
                <a:solidFill>
                  <a:srgbClr val="A9C0D4"/>
                </a:solidFill>
                <a:latin typeface="Aptos"/>
              </a:rPr>
              <a:t>FINTECH CREDIT RISK  •  FULL PORTFOLIO AUDIT (N=37,408)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6519672"/>
            <a:ext cx="45720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36E2CD"/>
                </a:solidFill>
                <a:latin typeface="Aptos"/>
              </a:rPr>
              <a:t>2/5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8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36E2CD"/>
                </a:solidFill>
                <a:latin typeface="Aptos"/>
              </a:rPr>
              <a:t>02 •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03504"/>
            <a:ext cx="1097280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F5FAFF"/>
                </a:solidFill>
                <a:latin typeface="Aptos"/>
              </a:rPr>
              <a:t>A controlled modeling pipeline—with an untouched test 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43000"/>
            <a:ext cx="1097280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A9C0D4"/>
                </a:solidFill>
                <a:latin typeface="Aptos"/>
              </a:rPr>
              <a:t>Cleaning, feature engineering and balancing were performed before final model evaluation.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783080"/>
            <a:ext cx="3493008" cy="1572768"/>
          </a:xfrm>
          <a:prstGeom prst="roundRect">
            <a:avLst/>
          </a:prstGeom>
          <a:solidFill>
            <a:srgbClr val="0D3254"/>
          </a:solidFill>
          <a:ln>
            <a:solidFill>
              <a:srgbClr val="0D32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59" y="1892807"/>
            <a:ext cx="475488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36E2CD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47672"/>
            <a:ext cx="2578608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F5FAFF"/>
                </a:solidFill>
                <a:latin typeface="Aptos"/>
              </a:rPr>
              <a:t>INGEST &amp; CLEAN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368296"/>
            <a:ext cx="3127248" cy="8686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A9C0D4"/>
                </a:solidFill>
                <a:latin typeface="Aptos"/>
              </a:rPr>
              <a:t>37,408 rows • 11 columns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A9C0D4"/>
                </a:solidFill>
                <a:latin typeface="Aptos"/>
              </a:rPr>
              <a:t>Median-impute 838 INSTALL_SIZE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A9C0D4"/>
                </a:solidFill>
                <a:latin typeface="Aptos"/>
              </a:rPr>
              <a:t>Mode-impute 103 CLIENT_TYPE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A9C0D4"/>
                </a:solidFill>
                <a:latin typeface="Aptos"/>
              </a:rPr>
              <a:t>6 demographic cells → Unknown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783080"/>
            <a:ext cx="3493008" cy="1572768"/>
          </a:xfrm>
          <a:prstGeom prst="roundRect">
            <a:avLst/>
          </a:prstGeom>
          <a:solidFill>
            <a:srgbClr val="0D3254"/>
          </a:solidFill>
          <a:ln>
            <a:solidFill>
              <a:srgbClr val="0D32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45151" y="1892807"/>
            <a:ext cx="475488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36E2CD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93792" y="1947672"/>
            <a:ext cx="2578608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F5FAFF"/>
                </a:solidFill>
                <a:latin typeface="Aptos"/>
              </a:rPr>
              <a:t>ENGINEER TARGET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368296"/>
            <a:ext cx="3127248" cy="8686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A9C0D4"/>
                </a:solidFill>
                <a:latin typeface="Aptos"/>
              </a:rPr>
              <a:t>QUALITY_OF_LOAN → IS_DEFAULT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A9C0D4"/>
                </a:solidFill>
                <a:latin typeface="Aptos"/>
              </a:rPr>
              <a:t>G = 0 (good)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A9C0D4"/>
                </a:solidFill>
                <a:latin typeface="Aptos"/>
              </a:rPr>
              <a:t>B / DF / SS = 1 (default)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02752" y="1783080"/>
            <a:ext cx="3493008" cy="1572768"/>
          </a:xfrm>
          <a:prstGeom prst="roundRect">
            <a:avLst/>
          </a:prstGeom>
          <a:solidFill>
            <a:srgbClr val="0D3254"/>
          </a:solidFill>
          <a:ln>
            <a:solidFill>
              <a:srgbClr val="0D32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67344" y="1892807"/>
            <a:ext cx="475488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36E2CD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15984" y="1947672"/>
            <a:ext cx="2578608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F5FAFF"/>
                </a:solidFill>
                <a:latin typeface="Aptos"/>
              </a:rPr>
              <a:t>FILTER EXTREMES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85632" y="2368296"/>
            <a:ext cx="3127248" cy="8686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A9C0D4"/>
                </a:solidFill>
                <a:latin typeface="Aptos"/>
              </a:rPr>
              <a:t>$100M ceiling on INVESTMENT_TOTAL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A9C0D4"/>
                </a:solidFill>
                <a:latin typeface="Aptos"/>
              </a:rPr>
              <a:t>257 outliers removed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A9C0D4"/>
                </a:solidFill>
                <a:latin typeface="Aptos"/>
              </a:rPr>
              <a:t>37,151 records retained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840480"/>
            <a:ext cx="5394960" cy="1572768"/>
          </a:xfrm>
          <a:prstGeom prst="roundRect">
            <a:avLst/>
          </a:prstGeom>
          <a:solidFill>
            <a:srgbClr val="0D3254"/>
          </a:solidFill>
          <a:ln>
            <a:solidFill>
              <a:srgbClr val="0D32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59" y="3950208"/>
            <a:ext cx="475488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36E2CD"/>
                </a:solidFill>
                <a:latin typeface="Apto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005072"/>
            <a:ext cx="4480560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F5FAFF"/>
                </a:solidFill>
                <a:latin typeface="Aptos"/>
              </a:rPr>
              <a:t>SPLIT &amp; ENCODE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4425696"/>
            <a:ext cx="5029200" cy="8686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A9C0D4"/>
                </a:solidFill>
                <a:latin typeface="Aptos"/>
              </a:rPr>
              <a:t>One-hot encode categorical fields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A9C0D4"/>
                </a:solidFill>
                <a:latin typeface="Aptos"/>
              </a:rPr>
              <a:t>80% train / 20% test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A9C0D4"/>
                </a:solidFill>
                <a:latin typeface="Aptos"/>
              </a:rPr>
              <a:t>7,431 loans in untouched test set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81928" y="3840480"/>
            <a:ext cx="5394960" cy="1572768"/>
          </a:xfrm>
          <a:prstGeom prst="roundRect">
            <a:avLst/>
          </a:prstGeom>
          <a:solidFill>
            <a:srgbClr val="0D3254"/>
          </a:solidFill>
          <a:ln>
            <a:solidFill>
              <a:srgbClr val="0D32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46520" y="3950208"/>
            <a:ext cx="475488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36E2CD"/>
                </a:solidFill>
                <a:latin typeface="Aptos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4005072"/>
            <a:ext cx="4480560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F5FAFF"/>
                </a:solidFill>
                <a:latin typeface="Aptos"/>
              </a:rPr>
              <a:t>COMPARE MODELS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4808" y="4425696"/>
            <a:ext cx="5029200" cy="8686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A9C0D4"/>
                </a:solidFill>
                <a:latin typeface="Aptos"/>
              </a:rPr>
              <a:t>Balanced Decision Tree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A9C0D4"/>
                </a:solidFill>
                <a:latin typeface="Aptos"/>
              </a:rPr>
              <a:t>Unbalanced 100-tree Random Forest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A9C0D4"/>
                </a:solidFill>
                <a:latin typeface="Aptos"/>
              </a:rPr>
              <a:t>SMOTE-balanced Random Forest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669280"/>
            <a:ext cx="10881360" cy="502920"/>
          </a:xfrm>
          <a:prstGeom prst="roundRect">
            <a:avLst/>
          </a:prstGeom>
          <a:solidFill>
            <a:srgbClr val="0A435B"/>
          </a:solidFill>
          <a:ln>
            <a:solidFill>
              <a:srgbClr val="0A4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68680" y="5779008"/>
            <a:ext cx="10332720" cy="24688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36E2CD"/>
                </a:solidFill>
                <a:latin typeface="Aptos"/>
              </a:rPr>
              <a:t>Test benchmark: 6,684 good loans + 747 actual defaults = 7,431 loans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547104"/>
            <a:ext cx="9144000" cy="16459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1" i="0">
                <a:solidFill>
                  <a:srgbClr val="A9C0D4"/>
                </a:solidFill>
                <a:latin typeface="Aptos"/>
              </a:rPr>
              <a:t>FINTECH CREDIT RISK  •  FULL PORTFOLIO AUDIT (N=37,408)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6519672"/>
            <a:ext cx="45720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36E2CD"/>
                </a:solidFill>
                <a:latin typeface="Aptos"/>
              </a:rPr>
              <a:t>3/5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8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36E2CD"/>
                </a:solidFill>
                <a:latin typeface="Aptos"/>
              </a:rPr>
              <a:t>03 • MODEL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03504"/>
            <a:ext cx="1097280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F5FAFF"/>
                </a:solidFill>
                <a:latin typeface="Aptos"/>
              </a:rPr>
              <a:t>SMOTE improved default capture—but increased false alarms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43000"/>
            <a:ext cx="1097280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A9C0D4"/>
                </a:solidFill>
                <a:latin typeface="Aptos"/>
              </a:rPr>
              <a:t>All three models evaluated on the same untouched test set: 7,431 loans, including 747 true defaults.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2971800" cy="658368"/>
          </a:xfrm>
          <a:prstGeom prst="rect">
            <a:avLst/>
          </a:prstGeom>
          <a:solidFill>
            <a:srgbClr val="114D69"/>
          </a:solidFill>
          <a:ln>
            <a:solidFill>
              <a:srgbClr val="051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94944" y="1810512"/>
            <a:ext cx="2862072" cy="5029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1" i="0">
                <a:solidFill>
                  <a:srgbClr val="36E2CD"/>
                </a:solidFill>
                <a:latin typeface="Aptos"/>
              </a:rPr>
              <a:t>MODEL</a:t>
            </a:r>
          </a:p>
        </p:txBody>
      </p:sp>
      <p:sp>
        <p:nvSpPr>
          <p:cNvPr id="7" name="Rectangle 6"/>
          <p:cNvSpPr/>
          <p:nvPr/>
        </p:nvSpPr>
        <p:spPr>
          <a:xfrm>
            <a:off x="3611880" y="1737360"/>
            <a:ext cx="1234440" cy="658368"/>
          </a:xfrm>
          <a:prstGeom prst="rect">
            <a:avLst/>
          </a:prstGeom>
          <a:solidFill>
            <a:srgbClr val="114D69"/>
          </a:solidFill>
          <a:ln>
            <a:solidFill>
              <a:srgbClr val="051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66744" y="1810512"/>
            <a:ext cx="1124712" cy="5029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1" i="0">
                <a:solidFill>
                  <a:srgbClr val="36E2CD"/>
                </a:solidFill>
                <a:latin typeface="Aptos"/>
              </a:rPr>
              <a:t>ACCURACY</a:t>
            </a:r>
          </a:p>
        </p:txBody>
      </p:sp>
      <p:sp>
        <p:nvSpPr>
          <p:cNvPr id="9" name="Rectangle 8"/>
          <p:cNvSpPr/>
          <p:nvPr/>
        </p:nvSpPr>
        <p:spPr>
          <a:xfrm>
            <a:off x="4846320" y="1737360"/>
            <a:ext cx="1371600" cy="658368"/>
          </a:xfrm>
          <a:prstGeom prst="rect">
            <a:avLst/>
          </a:prstGeom>
          <a:solidFill>
            <a:srgbClr val="114D69"/>
          </a:solidFill>
          <a:ln>
            <a:solidFill>
              <a:srgbClr val="051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901183" y="1810512"/>
            <a:ext cx="1261872" cy="5029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1" i="0">
                <a:solidFill>
                  <a:srgbClr val="36E2CD"/>
                </a:solidFill>
                <a:latin typeface="Aptos"/>
              </a:rPr>
              <a:t>PRECISION</a:t>
            </a:r>
          </a:p>
          <a:p>
            <a:pPr algn="ctr">
              <a:spcAft>
                <a:spcPts val="400"/>
              </a:spcAft>
            </a:pPr>
            <a:r>
              <a:rPr sz="800" b="1" i="0">
                <a:solidFill>
                  <a:srgbClr val="36E2CD"/>
                </a:solidFill>
                <a:latin typeface="Aptos"/>
              </a:rPr>
              <a:t>(DEFAULT)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737360"/>
            <a:ext cx="1417320" cy="658368"/>
          </a:xfrm>
          <a:prstGeom prst="rect">
            <a:avLst/>
          </a:prstGeom>
          <a:solidFill>
            <a:srgbClr val="114D69"/>
          </a:solidFill>
          <a:ln>
            <a:solidFill>
              <a:srgbClr val="051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72783" y="1810512"/>
            <a:ext cx="1307592" cy="5029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1" i="0">
                <a:solidFill>
                  <a:srgbClr val="36E2CD"/>
                </a:solidFill>
                <a:latin typeface="Aptos"/>
              </a:rPr>
              <a:t>RECALL</a:t>
            </a:r>
          </a:p>
          <a:p>
            <a:pPr algn="ctr">
              <a:spcAft>
                <a:spcPts val="400"/>
              </a:spcAft>
            </a:pPr>
            <a:r>
              <a:rPr sz="800" b="1" i="0">
                <a:solidFill>
                  <a:srgbClr val="36E2CD"/>
                </a:solidFill>
                <a:latin typeface="Aptos"/>
              </a:rPr>
              <a:t>(DEFAULTS CAUGHT)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35240" y="1737360"/>
            <a:ext cx="1554480" cy="658368"/>
          </a:xfrm>
          <a:prstGeom prst="rect">
            <a:avLst/>
          </a:prstGeom>
          <a:solidFill>
            <a:srgbClr val="114D69"/>
          </a:solidFill>
          <a:ln>
            <a:solidFill>
              <a:srgbClr val="051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690104" y="1810512"/>
            <a:ext cx="1444752" cy="5029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1" i="0">
                <a:solidFill>
                  <a:srgbClr val="36E2CD"/>
                </a:solidFill>
                <a:latin typeface="Aptos"/>
              </a:rPr>
              <a:t>GOOD CLIENTS</a:t>
            </a:r>
          </a:p>
          <a:p>
            <a:pPr algn="ctr">
              <a:spcAft>
                <a:spcPts val="400"/>
              </a:spcAft>
            </a:pPr>
            <a:r>
              <a:rPr sz="800" b="1" i="0">
                <a:solidFill>
                  <a:srgbClr val="36E2CD"/>
                </a:solidFill>
                <a:latin typeface="Aptos"/>
              </a:rPr>
              <a:t>FALSELY FLAGGED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89719" y="1737360"/>
            <a:ext cx="1508760" cy="658368"/>
          </a:xfrm>
          <a:prstGeom prst="rect">
            <a:avLst/>
          </a:prstGeom>
          <a:solidFill>
            <a:srgbClr val="114D69"/>
          </a:solidFill>
          <a:ln>
            <a:solidFill>
              <a:srgbClr val="051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244584" y="1810512"/>
            <a:ext cx="1399031" cy="5029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1" i="0">
                <a:solidFill>
                  <a:srgbClr val="36E2CD"/>
                </a:solidFill>
                <a:latin typeface="Aptos"/>
              </a:rPr>
              <a:t>DEFAULTS</a:t>
            </a:r>
          </a:p>
          <a:p>
            <a:pPr algn="ctr">
              <a:spcAft>
                <a:spcPts val="400"/>
              </a:spcAft>
            </a:pPr>
            <a:r>
              <a:rPr sz="800" b="1" i="0">
                <a:solidFill>
                  <a:srgbClr val="36E2CD"/>
                </a:solidFill>
                <a:latin typeface="Aptos"/>
              </a:rPr>
              <a:t>MISSED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2395728"/>
            <a:ext cx="2971800" cy="713232"/>
          </a:xfrm>
          <a:prstGeom prst="rect">
            <a:avLst/>
          </a:prstGeom>
          <a:solidFill>
            <a:srgbClr val="0D304E"/>
          </a:solidFill>
          <a:ln>
            <a:solidFill>
              <a:srgbClr val="051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04088" y="2487168"/>
            <a:ext cx="2843784" cy="51206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5FAFF"/>
                </a:solidFill>
                <a:latin typeface="Aptos"/>
              </a:rPr>
              <a:t>Balanced Decision Tree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11880" y="2395728"/>
            <a:ext cx="1234440" cy="713232"/>
          </a:xfrm>
          <a:prstGeom prst="rect">
            <a:avLst/>
          </a:prstGeom>
          <a:solidFill>
            <a:srgbClr val="0D304E"/>
          </a:solidFill>
          <a:ln>
            <a:solidFill>
              <a:srgbClr val="051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675888" y="2487168"/>
            <a:ext cx="1106424" cy="51206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F5FAFF"/>
                </a:solidFill>
                <a:latin typeface="Aptos"/>
              </a:rPr>
              <a:t>89.0%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46320" y="2395728"/>
            <a:ext cx="1371600" cy="713232"/>
          </a:xfrm>
          <a:prstGeom prst="rect">
            <a:avLst/>
          </a:prstGeom>
          <a:solidFill>
            <a:srgbClr val="0D304E"/>
          </a:solidFill>
          <a:ln>
            <a:solidFill>
              <a:srgbClr val="051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910328" y="2487168"/>
            <a:ext cx="1243584" cy="51206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F5FAFF"/>
                </a:solidFill>
                <a:latin typeface="Aptos"/>
              </a:rPr>
              <a:t>45.0%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2395728"/>
            <a:ext cx="1417320" cy="713232"/>
          </a:xfrm>
          <a:prstGeom prst="rect">
            <a:avLst/>
          </a:prstGeom>
          <a:solidFill>
            <a:srgbClr val="0D304E"/>
          </a:solidFill>
          <a:ln>
            <a:solidFill>
              <a:srgbClr val="051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81928" y="2487168"/>
            <a:ext cx="1289304" cy="51206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36E2CD"/>
                </a:solidFill>
                <a:latin typeface="Aptos"/>
              </a:rPr>
              <a:t>48.0% (360/747)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35240" y="2395728"/>
            <a:ext cx="1554480" cy="713232"/>
          </a:xfrm>
          <a:prstGeom prst="rect">
            <a:avLst/>
          </a:prstGeom>
          <a:solidFill>
            <a:srgbClr val="0D304E"/>
          </a:solidFill>
          <a:ln>
            <a:solidFill>
              <a:srgbClr val="051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699248" y="2487168"/>
            <a:ext cx="1426464" cy="51206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F5FAFF"/>
                </a:solidFill>
                <a:latin typeface="Aptos"/>
              </a:rPr>
              <a:t>444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89719" y="2395728"/>
            <a:ext cx="1508760" cy="713232"/>
          </a:xfrm>
          <a:prstGeom prst="rect">
            <a:avLst/>
          </a:prstGeom>
          <a:solidFill>
            <a:srgbClr val="0D304E"/>
          </a:solidFill>
          <a:ln>
            <a:solidFill>
              <a:srgbClr val="051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253728" y="2487168"/>
            <a:ext cx="1380743" cy="51206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F5FAFF"/>
                </a:solidFill>
                <a:latin typeface="Aptos"/>
              </a:rPr>
              <a:t>387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3108960"/>
            <a:ext cx="2971800" cy="713232"/>
          </a:xfrm>
          <a:prstGeom prst="rect">
            <a:avLst/>
          </a:prstGeom>
          <a:solidFill>
            <a:srgbClr val="092541"/>
          </a:solidFill>
          <a:ln>
            <a:solidFill>
              <a:srgbClr val="051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04088" y="3200400"/>
            <a:ext cx="2843784" cy="51206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5FAFF"/>
                </a:solidFill>
                <a:latin typeface="Aptos"/>
              </a:rPr>
              <a:t>Unbalanced Random Forest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11880" y="3108960"/>
            <a:ext cx="1234440" cy="713232"/>
          </a:xfrm>
          <a:prstGeom prst="rect">
            <a:avLst/>
          </a:prstGeom>
          <a:solidFill>
            <a:srgbClr val="092541"/>
          </a:solidFill>
          <a:ln>
            <a:solidFill>
              <a:srgbClr val="051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675888" y="3200400"/>
            <a:ext cx="1106424" cy="51206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FFC261"/>
                </a:solidFill>
                <a:latin typeface="Aptos"/>
              </a:rPr>
              <a:t>91.0%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46320" y="3108960"/>
            <a:ext cx="1371600" cy="713232"/>
          </a:xfrm>
          <a:prstGeom prst="rect">
            <a:avLst/>
          </a:prstGeom>
          <a:solidFill>
            <a:srgbClr val="092541"/>
          </a:solidFill>
          <a:ln>
            <a:solidFill>
              <a:srgbClr val="051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910328" y="3200400"/>
            <a:ext cx="1243584" cy="51206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FFC261"/>
                </a:solidFill>
                <a:latin typeface="Aptos"/>
              </a:rPr>
              <a:t>61.0%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3108960"/>
            <a:ext cx="1417320" cy="713232"/>
          </a:xfrm>
          <a:prstGeom prst="rect">
            <a:avLst/>
          </a:prstGeom>
          <a:solidFill>
            <a:srgbClr val="092541"/>
          </a:solidFill>
          <a:ln>
            <a:solidFill>
              <a:srgbClr val="051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281928" y="3200400"/>
            <a:ext cx="1289304" cy="51206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F5FAFF"/>
                </a:solidFill>
                <a:latin typeface="Aptos"/>
              </a:rPr>
              <a:t>35.0% (258/747)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635240" y="3108960"/>
            <a:ext cx="1554480" cy="713232"/>
          </a:xfrm>
          <a:prstGeom prst="rect">
            <a:avLst/>
          </a:prstGeom>
          <a:solidFill>
            <a:srgbClr val="092541"/>
          </a:solidFill>
          <a:ln>
            <a:solidFill>
              <a:srgbClr val="051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699248" y="3200400"/>
            <a:ext cx="1426464" cy="51206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FFC261"/>
                </a:solidFill>
                <a:latin typeface="Aptos"/>
              </a:rPr>
              <a:t>164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89719" y="3108960"/>
            <a:ext cx="1508760" cy="713232"/>
          </a:xfrm>
          <a:prstGeom prst="rect">
            <a:avLst/>
          </a:prstGeom>
          <a:solidFill>
            <a:srgbClr val="092541"/>
          </a:solidFill>
          <a:ln>
            <a:solidFill>
              <a:srgbClr val="051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253728" y="3200400"/>
            <a:ext cx="1380743" cy="51206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F5FAFF"/>
                </a:solidFill>
                <a:latin typeface="Aptos"/>
              </a:rPr>
              <a:t>489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" y="3822191"/>
            <a:ext cx="2971800" cy="713232"/>
          </a:xfrm>
          <a:prstGeom prst="rect">
            <a:avLst/>
          </a:prstGeom>
          <a:solidFill>
            <a:srgbClr val="0D304E"/>
          </a:solidFill>
          <a:ln>
            <a:solidFill>
              <a:srgbClr val="051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04088" y="3913631"/>
            <a:ext cx="2843784" cy="51206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5FAFF"/>
                </a:solidFill>
                <a:latin typeface="Aptos"/>
              </a:rPr>
              <a:t>SMOTE Random Forest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11880" y="3822191"/>
            <a:ext cx="1234440" cy="713232"/>
          </a:xfrm>
          <a:prstGeom prst="rect">
            <a:avLst/>
          </a:prstGeom>
          <a:solidFill>
            <a:srgbClr val="0D304E"/>
          </a:solidFill>
          <a:ln>
            <a:solidFill>
              <a:srgbClr val="051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675888" y="3913631"/>
            <a:ext cx="1106424" cy="51206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F5FAFF"/>
                </a:solidFill>
                <a:latin typeface="Aptos"/>
              </a:rPr>
              <a:t>87.0%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846320" y="3822191"/>
            <a:ext cx="1371600" cy="713232"/>
          </a:xfrm>
          <a:prstGeom prst="rect">
            <a:avLst/>
          </a:prstGeom>
          <a:solidFill>
            <a:srgbClr val="0D304E"/>
          </a:solidFill>
          <a:ln>
            <a:solidFill>
              <a:srgbClr val="051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910328" y="3913631"/>
            <a:ext cx="1243584" cy="51206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F5FAFF"/>
                </a:solidFill>
                <a:latin typeface="Aptos"/>
              </a:rPr>
              <a:t>38.0%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17920" y="3822191"/>
            <a:ext cx="1417320" cy="713232"/>
          </a:xfrm>
          <a:prstGeom prst="rect">
            <a:avLst/>
          </a:prstGeom>
          <a:solidFill>
            <a:srgbClr val="0D304E"/>
          </a:solidFill>
          <a:ln>
            <a:solidFill>
              <a:srgbClr val="051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281928" y="3913631"/>
            <a:ext cx="1289304" cy="51206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36E2CD"/>
                </a:solidFill>
                <a:latin typeface="Aptos"/>
              </a:rPr>
              <a:t>48.0% (361/747)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635240" y="3822191"/>
            <a:ext cx="1554480" cy="713232"/>
          </a:xfrm>
          <a:prstGeom prst="rect">
            <a:avLst/>
          </a:prstGeom>
          <a:solidFill>
            <a:srgbClr val="0D304E"/>
          </a:solidFill>
          <a:ln>
            <a:solidFill>
              <a:srgbClr val="051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699248" y="3913631"/>
            <a:ext cx="1426464" cy="51206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F5FAFF"/>
                </a:solidFill>
                <a:latin typeface="Aptos"/>
              </a:rPr>
              <a:t>601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189719" y="3822191"/>
            <a:ext cx="1508760" cy="713232"/>
          </a:xfrm>
          <a:prstGeom prst="rect">
            <a:avLst/>
          </a:prstGeom>
          <a:solidFill>
            <a:srgbClr val="0D304E"/>
          </a:solidFill>
          <a:ln>
            <a:solidFill>
              <a:srgbClr val="051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253728" y="3913631"/>
            <a:ext cx="1380743" cy="51206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F5FAFF"/>
                </a:solidFill>
                <a:latin typeface="Aptos"/>
              </a:rPr>
              <a:t>386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40080" y="4709160"/>
            <a:ext cx="5394960" cy="1143000"/>
          </a:xfrm>
          <a:prstGeom prst="roundRect">
            <a:avLst/>
          </a:prstGeom>
          <a:solidFill>
            <a:srgbClr val="0D3254"/>
          </a:solidFill>
          <a:ln>
            <a:solidFill>
              <a:srgbClr val="0D32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68680" y="4864608"/>
            <a:ext cx="49377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FFC261"/>
                </a:solidFill>
                <a:latin typeface="Aptos"/>
              </a:rPr>
              <a:t>BEST FOR TRIAGE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8680" y="5166360"/>
            <a:ext cx="4577535" cy="482183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 dirty="0">
                <a:solidFill>
                  <a:srgbClr val="F5FAFF"/>
                </a:solidFill>
                <a:latin typeface="Aptos"/>
              </a:rPr>
              <a:t>Unbalanced Random Forest: 61% precision and only 164 good customers </a:t>
            </a:r>
            <a:endParaRPr lang="en-US" sz="1100" b="0" i="0" dirty="0">
              <a:solidFill>
                <a:srgbClr val="F5FAFF"/>
              </a:solidFill>
              <a:latin typeface="Aptos"/>
            </a:endParaRPr>
          </a:p>
          <a:p>
            <a:pPr algn="l">
              <a:spcAft>
                <a:spcPts val="400"/>
              </a:spcAft>
            </a:pPr>
            <a:r>
              <a:rPr sz="1100" b="0" i="0" dirty="0">
                <a:solidFill>
                  <a:srgbClr val="F5FAFF"/>
                </a:solidFill>
                <a:latin typeface="Aptos"/>
              </a:rPr>
              <a:t>falsely flagged—but it misses 489 of 747 defaults.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263640" y="4709160"/>
            <a:ext cx="5257800" cy="1143000"/>
          </a:xfrm>
          <a:prstGeom prst="roundRect">
            <a:avLst/>
          </a:prstGeom>
          <a:solidFill>
            <a:srgbClr val="0D3254"/>
          </a:solidFill>
          <a:ln>
            <a:solidFill>
              <a:srgbClr val="0D32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492240" y="4864608"/>
            <a:ext cx="475488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36E2CD"/>
                </a:solidFill>
                <a:latin typeface="Aptos"/>
              </a:rPr>
              <a:t>THE RECALL CEILING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92240" y="5166360"/>
            <a:ext cx="4470134" cy="482183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 dirty="0">
                <a:solidFill>
                  <a:srgbClr val="F5FAFF"/>
                </a:solidFill>
                <a:latin typeface="Aptos"/>
              </a:rPr>
              <a:t>Balanced models catch ~48% of defaults, but precision falls to 38–45%; </a:t>
            </a:r>
            <a:endParaRPr lang="en-US" sz="1100" b="0" i="0" dirty="0">
              <a:solidFill>
                <a:srgbClr val="F5FAFF"/>
              </a:solidFill>
              <a:latin typeface="Aptos"/>
            </a:endParaRPr>
          </a:p>
          <a:p>
            <a:pPr algn="l">
              <a:spcAft>
                <a:spcPts val="400"/>
              </a:spcAft>
            </a:pPr>
            <a:r>
              <a:rPr sz="1100" b="0" i="0" dirty="0">
                <a:solidFill>
                  <a:srgbClr val="F5FAFF"/>
                </a:solidFill>
                <a:latin typeface="Aptos"/>
              </a:rPr>
              <a:t>this is not ready for automatic rejection.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94360" y="6547104"/>
            <a:ext cx="9144000" cy="16459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1" i="0">
                <a:solidFill>
                  <a:srgbClr val="A9C0D4"/>
                </a:solidFill>
                <a:latin typeface="Aptos"/>
              </a:rPr>
              <a:t>FINTECH CREDIT RISK  •  FULL PORTFOLIO AUDIT (N=37,408)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064240" y="6519672"/>
            <a:ext cx="45720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36E2CD"/>
                </a:solidFill>
                <a:latin typeface="Aptos"/>
              </a:rPr>
              <a:t>4/5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8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36E2CD"/>
                </a:solidFill>
                <a:latin typeface="Aptos"/>
              </a:rPr>
              <a:t>04 • EXECUTIVE ACTION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03504"/>
            <a:ext cx="1097280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F5FAFF"/>
                </a:solidFill>
                <a:latin typeface="Aptos"/>
              </a:rPr>
              <a:t>Use the model as a signal—not as an automated verdict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43000"/>
            <a:ext cx="1097280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A9C0D4"/>
                </a:solidFill>
                <a:latin typeface="Aptos"/>
              </a:rPr>
              <a:t>Current application attributes do not contain enough behavioral signal to separate good and bad borrowers reliably.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91640"/>
            <a:ext cx="10835640" cy="822960"/>
          </a:xfrm>
          <a:prstGeom prst="roundRect">
            <a:avLst/>
          </a:prstGeom>
          <a:solidFill>
            <a:srgbClr val="0D3254"/>
          </a:solidFill>
          <a:ln>
            <a:solidFill>
              <a:srgbClr val="0D32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1856232"/>
            <a:ext cx="50292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36E2CD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810512"/>
            <a:ext cx="301752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F5FAFF"/>
                </a:solidFill>
                <a:latin typeface="Aptos"/>
              </a:rPr>
              <a:t>DEPLOY A TIER-1 TRIAGE FLAG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810512"/>
            <a:ext cx="6600525" cy="45140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 dirty="0">
                <a:solidFill>
                  <a:srgbClr val="A9C0D4"/>
                </a:solidFill>
                <a:latin typeface="Aptos"/>
              </a:rPr>
              <a:t>Use the unbalanced Random Forest to route flagged applications to manual underwriting. Its default precision is 61%; </a:t>
            </a:r>
            <a:endParaRPr lang="en-US" sz="1000" b="0" i="0" dirty="0">
              <a:solidFill>
                <a:srgbClr val="A9C0D4"/>
              </a:solidFill>
              <a:latin typeface="Aptos"/>
            </a:endParaRPr>
          </a:p>
          <a:p>
            <a:pPr algn="l">
              <a:spcAft>
                <a:spcPts val="400"/>
              </a:spcAft>
            </a:pPr>
            <a:r>
              <a:rPr sz="1000" b="0" i="0" dirty="0">
                <a:solidFill>
                  <a:srgbClr val="A9C0D4"/>
                </a:solidFill>
                <a:latin typeface="Aptos"/>
              </a:rPr>
              <a:t>avoid full auto-rejection.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715768"/>
            <a:ext cx="10835640" cy="822960"/>
          </a:xfrm>
          <a:prstGeom prst="roundRect">
            <a:avLst/>
          </a:prstGeom>
          <a:solidFill>
            <a:srgbClr val="0D3254"/>
          </a:solidFill>
          <a:ln>
            <a:solidFill>
              <a:srgbClr val="0D32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2880360"/>
            <a:ext cx="50292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FFC261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834640"/>
            <a:ext cx="301752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F5FAFF"/>
                </a:solidFill>
                <a:latin typeface="Aptos"/>
              </a:rPr>
              <a:t>SET LIQUIDITY GUARDRAILS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834640"/>
            <a:ext cx="6629400" cy="5486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 dirty="0">
                <a:solidFill>
                  <a:srgbClr val="A9C0D4"/>
                </a:solidFill>
                <a:latin typeface="Aptos"/>
              </a:rPr>
              <a:t>Investigate minimum cash-to-loan or liquidity-buffer rules. Defaulters hold 34.2% less average cash than healthy borrowers.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739896"/>
            <a:ext cx="10835640" cy="822960"/>
          </a:xfrm>
          <a:prstGeom prst="roundRect">
            <a:avLst/>
          </a:prstGeom>
          <a:solidFill>
            <a:srgbClr val="0D3254"/>
          </a:solidFill>
          <a:ln>
            <a:solidFill>
              <a:srgbClr val="0D32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6112" y="3904487"/>
            <a:ext cx="50292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36E2CD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858768"/>
            <a:ext cx="301752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F5FAFF"/>
                </a:solidFill>
                <a:latin typeface="Aptos"/>
              </a:rPr>
              <a:t>IMPROVE APPLICATION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858768"/>
            <a:ext cx="6629400" cy="5486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A9C0D4"/>
                </a:solidFill>
                <a:latin typeface="Aptos"/>
              </a:rPr>
              <a:t>Capture verified debt-to-income (DTI), external credit bureau scores and employment tenure to improve risk signal.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764024"/>
            <a:ext cx="10835640" cy="822960"/>
          </a:xfrm>
          <a:prstGeom prst="roundRect">
            <a:avLst/>
          </a:prstGeom>
          <a:solidFill>
            <a:srgbClr val="0D3254"/>
          </a:solidFill>
          <a:ln>
            <a:solidFill>
              <a:srgbClr val="0D32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96112" y="4928616"/>
            <a:ext cx="50292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36E2CD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882896"/>
            <a:ext cx="301752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F5FAFF"/>
                </a:solidFill>
                <a:latin typeface="Aptos"/>
              </a:rPr>
              <a:t>SEPARATE WHALE UNDERWRITING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882896"/>
            <a:ext cx="6320000" cy="45140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 dirty="0">
                <a:solidFill>
                  <a:srgbClr val="A9C0D4"/>
                </a:solidFill>
                <a:latin typeface="Aptos"/>
              </a:rPr>
              <a:t>Route the 257 loans above $100M through dedicated corporate credit review rather than mixing them with normal</a:t>
            </a:r>
            <a:endParaRPr lang="en-US" sz="1000" b="0" i="0" dirty="0">
              <a:solidFill>
                <a:srgbClr val="A9C0D4"/>
              </a:solidFill>
              <a:latin typeface="Aptos"/>
            </a:endParaRPr>
          </a:p>
          <a:p>
            <a:pPr algn="l">
              <a:spcAft>
                <a:spcPts val="400"/>
              </a:spcAft>
            </a:pPr>
            <a:r>
              <a:rPr sz="1000" b="0" i="0" dirty="0">
                <a:solidFill>
                  <a:srgbClr val="A9C0D4"/>
                </a:solidFill>
                <a:latin typeface="Aptos"/>
              </a:rPr>
              <a:t> retail/commercial loans.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5870448"/>
            <a:ext cx="10835640" cy="420624"/>
          </a:xfrm>
          <a:prstGeom prst="roundRect">
            <a:avLst/>
          </a:prstGeom>
          <a:solidFill>
            <a:srgbClr val="0A435B"/>
          </a:solidFill>
          <a:ln>
            <a:solidFill>
              <a:srgbClr val="0A4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96112" y="5952744"/>
            <a:ext cx="1024128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36E2CD"/>
                </a:solidFill>
                <a:latin typeface="Aptos"/>
              </a:rPr>
              <a:t>DECISION: pilot human-in-the-loop triage; improve data before considering automated underwriting.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47104"/>
            <a:ext cx="9144000" cy="16459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1" i="0">
                <a:solidFill>
                  <a:srgbClr val="A9C0D4"/>
                </a:solidFill>
                <a:latin typeface="Aptos"/>
              </a:rPr>
              <a:t>FINTECH CREDIT RISK  •  FULL PORTFOLIO AUDIT (N=37,408)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519672"/>
            <a:ext cx="45720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36E2CD"/>
                </a:solidFill>
                <a:latin typeface="Aptos"/>
              </a:rPr>
              <a:t>5/5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636</Words>
  <Application>Microsoft Macintosh PowerPoint</Application>
  <PresentationFormat>Widescreen</PresentationFormat>
  <Paragraphs>123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Denis Osubor</cp:lastModifiedBy>
  <cp:revision>2</cp:revision>
  <dcterms:created xsi:type="dcterms:W3CDTF">2013-01-27T09:14:16Z</dcterms:created>
  <dcterms:modified xsi:type="dcterms:W3CDTF">2026-10-16T13:44:12Z</dcterms:modified>
  <cp:category/>
</cp:coreProperties>
</file>